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7524" y="410517"/>
            <a:ext cx="4308641" cy="77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8725" y="957462"/>
            <a:ext cx="8526780" cy="3319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468" y="1176698"/>
            <a:ext cx="8269063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5625" marR="5080" indent="-1813560" algn="ctr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ScriptCore</a:t>
            </a:r>
            <a:r>
              <a:rPr lang="en-US" dirty="0"/>
              <a:t> – A Software-Defined Virtual CPU and Instruction Execution Simulator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82029" y="2833557"/>
            <a:ext cx="32004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130" dirty="0">
                <a:latin typeface="Arial"/>
                <a:cs typeface="Arial"/>
              </a:rPr>
              <a:t>Muzzammil M 220071601188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41604" y="2533128"/>
            <a:ext cx="164370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1600" b="1" spc="75" dirty="0">
                <a:latin typeface="Arial"/>
                <a:cs typeface="Arial"/>
              </a:rPr>
              <a:t>Supervisor: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901" y="4324350"/>
            <a:ext cx="729619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Domai</a:t>
            </a:r>
            <a:r>
              <a:rPr lang="en-IN" sz="2000" b="1" dirty="0">
                <a:latin typeface="Arial"/>
                <a:cs typeface="Arial"/>
              </a:rPr>
              <a:t>n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90" dirty="0">
                <a:latin typeface="Arial"/>
                <a:cs typeface="Arial"/>
              </a:rPr>
              <a:t>of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120" dirty="0">
                <a:latin typeface="Arial"/>
                <a:cs typeface="Arial"/>
              </a:rPr>
              <a:t>p</a:t>
            </a:r>
            <a:r>
              <a:rPr lang="en-IN" sz="2000" b="1" spc="120" dirty="0" err="1">
                <a:latin typeface="Arial"/>
                <a:cs typeface="Arial"/>
              </a:rPr>
              <a:t>roject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280" dirty="0">
                <a:latin typeface="Arial"/>
                <a:cs typeface="Arial"/>
              </a:rPr>
              <a:t>: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lang="en-IN" sz="2000" b="1" spc="15" dirty="0">
                <a:latin typeface="Arial"/>
                <a:cs typeface="Arial"/>
              </a:rPr>
              <a:t> Computer System and Architecture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1100" b="1" dirty="0">
                <a:latin typeface="Arial"/>
                <a:cs typeface="Arial"/>
              </a:rPr>
              <a:t>DEPARTMENT OF COMPUTER SCIENCE AND ENGINEERING 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62025" y="4754037"/>
            <a:ext cx="1555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75" dirty="0">
                <a:solidFill>
                  <a:srgbClr val="595959"/>
                </a:solidFill>
                <a:latin typeface="Arial"/>
                <a:cs typeface="Arial"/>
              </a:rPr>
              <a:t>01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F729D3-0469-871F-0AD6-221E77577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035E30AB-A515-1C06-9801-7CFF6F22ABED}"/>
              </a:ext>
            </a:extLst>
          </p:cNvPr>
          <p:cNvSpPr txBox="1"/>
          <p:nvPr/>
        </p:nvSpPr>
        <p:spPr>
          <a:xfrm>
            <a:off x="1182029" y="3140326"/>
            <a:ext cx="32004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130" dirty="0">
                <a:latin typeface="Arial"/>
                <a:cs typeface="Arial"/>
              </a:rPr>
              <a:t>Raiyan B 220071601202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F41ABE2-17EA-FEFA-F1E8-36CC5111B522}"/>
              </a:ext>
            </a:extLst>
          </p:cNvPr>
          <p:cNvSpPr txBox="1"/>
          <p:nvPr/>
        </p:nvSpPr>
        <p:spPr>
          <a:xfrm>
            <a:off x="5841948" y="2833557"/>
            <a:ext cx="232366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/>
              <a:t>D</a:t>
            </a:r>
            <a:r>
              <a:rPr lang="en-IN" sz="1800" b="1" dirty="0"/>
              <a:t>r. D. </a:t>
            </a:r>
            <a:r>
              <a:rPr lang="en-IN" sz="1800" b="1" dirty="0" err="1"/>
              <a:t>Madhina</a:t>
            </a:r>
            <a:r>
              <a:rPr lang="en-IN" sz="1800" b="1" dirty="0"/>
              <a:t> Banu 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34596018-B747-8CCE-88DE-0999A52ADA9E}"/>
              </a:ext>
            </a:extLst>
          </p:cNvPr>
          <p:cNvSpPr txBox="1"/>
          <p:nvPr/>
        </p:nvSpPr>
        <p:spPr>
          <a:xfrm>
            <a:off x="5327882" y="3131853"/>
            <a:ext cx="34804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/>
              <a:t>Assistant Professor(Sr. Gr.)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2D628CA9-9524-C485-D97D-A632E37C7CA6}"/>
              </a:ext>
            </a:extLst>
          </p:cNvPr>
          <p:cNvSpPr txBox="1"/>
          <p:nvPr/>
        </p:nvSpPr>
        <p:spPr>
          <a:xfrm>
            <a:off x="1182029" y="2533128"/>
            <a:ext cx="32004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130" dirty="0">
                <a:latin typeface="Arial"/>
                <a:cs typeface="Arial"/>
              </a:rPr>
              <a:t>Name of the Students: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524" y="410517"/>
            <a:ext cx="4308641" cy="718989"/>
          </a:xfrm>
          <a:prstGeom prst="rect">
            <a:avLst/>
          </a:prstGeom>
        </p:spPr>
        <p:txBody>
          <a:bodyPr vert="horz" wrap="square" lIns="0" tIns="285316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ABSTRACT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970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solidFill>
                  <a:srgbClr val="595959"/>
                </a:solidFill>
                <a:latin typeface="Arial"/>
                <a:cs typeface="Arial"/>
              </a:rPr>
              <a:t>02</a:t>
            </a:r>
            <a:endParaRPr sz="75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97B9AC-415E-4514-1989-CEC4E0D5C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5B973D-7036-E81B-5724-DF9931F0E1DD}"/>
              </a:ext>
            </a:extLst>
          </p:cNvPr>
          <p:cNvSpPr txBox="1"/>
          <p:nvPr/>
        </p:nvSpPr>
        <p:spPr>
          <a:xfrm>
            <a:off x="304800" y="1352550"/>
            <a:ext cx="815340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ScriptCore</a:t>
            </a:r>
            <a:r>
              <a:rPr lang="en-US" dirty="0"/>
              <a:t> is a </a:t>
            </a:r>
            <a:r>
              <a:rPr lang="en-US" b="1" dirty="0"/>
              <a:t>virtual CPU simulator</a:t>
            </a:r>
            <a:r>
              <a:rPr lang="en-US" dirty="0"/>
              <a:t> that models how processors execute instructions.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allows users to write and run custom assembly programs (SCASM) to observe CPU behavior in real time.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Entirely software-based, built using </a:t>
            </a:r>
            <a:r>
              <a:rPr lang="en-US" b="1" dirty="0"/>
              <a:t>Python</a:t>
            </a:r>
            <a:r>
              <a:rPr lang="en-US" dirty="0"/>
              <a:t> for backend simulation and optionally </a:t>
            </a:r>
            <a:r>
              <a:rPr lang="en-US" b="1" dirty="0"/>
              <a:t>Node.js</a:t>
            </a:r>
            <a:r>
              <a:rPr lang="en-US" dirty="0"/>
              <a:t> for visualization.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Helps students and researchers understand </a:t>
            </a:r>
            <a:r>
              <a:rPr lang="en-US" b="1" dirty="0"/>
              <a:t>CPU architecture, instruction flow, and memory management</a:t>
            </a:r>
            <a:r>
              <a:rPr lang="en-US" dirty="0"/>
              <a:t> — without hardware.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94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PROBLEM</a:t>
            </a:r>
            <a:r>
              <a:rPr spc="40" dirty="0"/>
              <a:t> </a:t>
            </a:r>
            <a:r>
              <a:rPr lang="en-IN" spc="-10" dirty="0"/>
              <a:t>STATEMENT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4097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latin typeface="Arial"/>
                <a:cs typeface="Arial"/>
              </a:rPr>
              <a:t>0C</a:t>
            </a:r>
            <a:endParaRPr sz="75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ECAD36-EAA3-C614-E6A2-969F657B8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488B42-65F0-B142-B446-7474D60002A1}"/>
              </a:ext>
            </a:extLst>
          </p:cNvPr>
          <p:cNvSpPr txBox="1"/>
          <p:nvPr/>
        </p:nvSpPr>
        <p:spPr>
          <a:xfrm>
            <a:off x="381000" y="1428750"/>
            <a:ext cx="807720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Learning and experimenting with CPU internals usually requires </a:t>
            </a:r>
            <a:r>
              <a:rPr lang="en-US" b="1" dirty="0"/>
              <a:t>hardware or complex low-level tools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Existing simulators (like gem5, QEMU) are </a:t>
            </a:r>
            <a:r>
              <a:rPr lang="en-US" b="1" dirty="0"/>
              <a:t>complex and not beginner-friendly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There is a lack of </a:t>
            </a:r>
            <a:r>
              <a:rPr lang="en-US" b="1" dirty="0"/>
              <a:t>educational, script-based CPU simulators</a:t>
            </a:r>
            <a:r>
              <a:rPr lang="en-US" dirty="0"/>
              <a:t> that visualize real-time instruction flow.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Hence, the need for an </a:t>
            </a:r>
            <a:r>
              <a:rPr lang="en-US" b="1" dirty="0"/>
              <a:t>easy, software-only CPU simulation framework</a:t>
            </a:r>
            <a:r>
              <a:rPr lang="en-US" dirty="0"/>
              <a:t> that balances </a:t>
            </a:r>
            <a:r>
              <a:rPr lang="en-US" b="1" dirty="0"/>
              <a:t>education and research usability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00" y="410567"/>
            <a:ext cx="3519900" cy="4116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/>
              <a:t>REL</a:t>
            </a:r>
            <a:r>
              <a:rPr lang="en-IN" sz="2600" dirty="0"/>
              <a:t>ATED</a:t>
            </a:r>
            <a:r>
              <a:rPr sz="2600" spc="135" dirty="0"/>
              <a:t> </a:t>
            </a:r>
            <a:r>
              <a:rPr sz="2600" spc="-25" dirty="0"/>
              <a:t>WORK</a:t>
            </a:r>
            <a:endParaRPr sz="2600" dirty="0"/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4605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30" dirty="0">
                <a:latin typeface="Arial"/>
                <a:cs typeface="Arial"/>
              </a:rPr>
              <a:t>04</a:t>
            </a:r>
            <a:endParaRPr sz="75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AC567D-5829-A977-CEB2-ADBC5B150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80D08A3-ED36-7F6D-429C-125C8A762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658445"/>
              </p:ext>
            </p:extLst>
          </p:nvPr>
        </p:nvGraphicFramePr>
        <p:xfrm>
          <a:off x="468901" y="1123950"/>
          <a:ext cx="8153401" cy="379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339149089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33699508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1940567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35778168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94378212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Title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Author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Year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Limitations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Advantages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40760"/>
                  </a:ext>
                </a:extLst>
              </a:tr>
              <a:tr h="87495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gem5: Modular Platform for Computer System Architecture Research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Arial MT"/>
                      </a:endParaRPr>
                    </a:p>
                    <a:p>
                      <a:pPr algn="ctr"/>
                      <a:r>
                        <a:rPr lang="en-IN" sz="1400" dirty="0">
                          <a:latin typeface="Arial MT"/>
                        </a:rPr>
                        <a:t>Binkert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Arial MT"/>
                      </a:endParaRPr>
                    </a:p>
                    <a:p>
                      <a:pPr algn="ctr"/>
                      <a:r>
                        <a:rPr lang="en-IN" sz="1400" dirty="0">
                          <a:latin typeface="Arial MT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Complex to configure, requires deep architecture knowledge; not suitable for beginners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Widely used, supports multiple ISAs, full-system simulation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6753"/>
                  </a:ext>
                </a:extLst>
              </a:tr>
              <a:tr h="87495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QEMU: A Fast and Portable Dynamic Translator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Arial MT"/>
                      </a:endParaRPr>
                    </a:p>
                    <a:p>
                      <a:pPr algn="ctr"/>
                      <a:r>
                        <a:rPr lang="en-IN" sz="1400" dirty="0">
                          <a:latin typeface="Arial MT"/>
                        </a:rPr>
                        <a:t>Bellard, 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>
                          <a:latin typeface="Arial MT"/>
                        </a:rPr>
                        <a:t>2025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Functional simulation only; lacks timing accuracy and visualization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Cross-platform, supports multiple architectures, open-source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347068"/>
                  </a:ext>
                </a:extLst>
              </a:tr>
              <a:tr h="874958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 MT"/>
                        </a:rPr>
                        <a:t>Spike: RISC-V ISA Simulator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RISC-V Foundation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-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Limited to RISC-V only; no GUI visualization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Fast functional simulation, accurate for instruction-level debugging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578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2025" y="4751019"/>
            <a:ext cx="14351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latin typeface="Arial"/>
                <a:cs typeface="Arial"/>
              </a:rPr>
              <a:t>05</a:t>
            </a:r>
            <a:endParaRPr sz="75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0D42A-4A38-24E3-7430-93F35A556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7266A7-30E1-2C8E-8CA0-2E699DED6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117106"/>
              </p:ext>
            </p:extLst>
          </p:nvPr>
        </p:nvGraphicFramePr>
        <p:xfrm>
          <a:off x="381000" y="666750"/>
          <a:ext cx="8153401" cy="425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339149089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33699508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1940567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35778168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94378212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Title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Author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Year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Limitations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Advantages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40760"/>
                  </a:ext>
                </a:extLst>
              </a:tr>
              <a:tr h="874958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MT"/>
                        </a:rPr>
                        <a:t>EnclaveSim</a:t>
                      </a:r>
                      <a:r>
                        <a:rPr lang="en-US" sz="1400" dirty="0">
                          <a:latin typeface="Arial MT"/>
                        </a:rPr>
                        <a:t>: A Micro-Architectural Simulator with Enclave Support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Arial MT"/>
                      </a:endParaRPr>
                    </a:p>
                    <a:p>
                      <a:pPr algn="ctr"/>
                      <a:r>
                        <a:rPr lang="en-IN" sz="1400" dirty="0">
                          <a:latin typeface="Arial MT"/>
                        </a:rPr>
                        <a:t>Verma, Kumar, Panda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Arial MT"/>
                      </a:endParaRPr>
                    </a:p>
                    <a:p>
                      <a:pPr algn="ctr"/>
                      <a:r>
                        <a:rPr lang="en-IN" sz="1400" dirty="0">
                          <a:latin typeface="Arial MT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Supports only Intel SGX; cannot simulate other virtualization security models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Enables simulation of secure enclaves and isolation features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6753"/>
                  </a:ext>
                </a:extLst>
              </a:tr>
              <a:tr h="87495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Simulators for Processors Used in Virtualization: A Survey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Arial MT"/>
                      </a:endParaRPr>
                    </a:p>
                    <a:p>
                      <a:pPr algn="ctr"/>
                      <a:r>
                        <a:rPr lang="en-IN" sz="1400" dirty="0" err="1">
                          <a:latin typeface="Arial MT"/>
                        </a:rPr>
                        <a:t>Swapneel</a:t>
                      </a:r>
                      <a:r>
                        <a:rPr lang="en-IN" sz="1400" dirty="0">
                          <a:latin typeface="Arial MT"/>
                        </a:rPr>
                        <a:t> C. Mhatre, Priya Chandran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2025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Survey only; does not implement a simulator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Comprehensive study identifying unresolved challenges in virtualization simulation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347068"/>
                  </a:ext>
                </a:extLst>
              </a:tr>
              <a:tr h="874958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 MT"/>
                        </a:rPr>
                        <a:t>ScriptCore</a:t>
                      </a:r>
                      <a:r>
                        <a:rPr lang="en-IN" sz="1400" dirty="0">
                          <a:latin typeface="Arial MT"/>
                        </a:rPr>
                        <a:t> (Proposed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Arial MT"/>
                      </a:endParaRP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Muzzammil and </a:t>
                      </a: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Raiyan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</a:p>
                    <a:p>
                      <a:pPr algn="ctr"/>
                      <a:r>
                        <a:rPr lang="en-US" sz="1400" dirty="0">
                          <a:latin typeface="Arial MT"/>
                        </a:rPr>
                        <a:t>2025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MT"/>
                        </a:rPr>
                        <a:t>Prototype-level project; limited to single-core simulation</a:t>
                      </a:r>
                      <a:endParaRPr lang="en-IN" sz="1400" dirty="0">
                        <a:latin typeface="Arial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 MT"/>
                        </a:rPr>
                        <a:t>Educational, easy to use, purely software-based CPU visualization, suitable for learning environments</a:t>
                      </a:r>
                      <a:endParaRPr lang="en-IN" sz="1200" dirty="0">
                        <a:latin typeface="Arial 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578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24" y="426492"/>
            <a:ext cx="3082290" cy="420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spc="55" dirty="0"/>
              <a:t>PROPOSED</a:t>
            </a:r>
            <a:r>
              <a:rPr sz="2600" spc="35" dirty="0"/>
              <a:t> </a:t>
            </a:r>
            <a:r>
              <a:rPr sz="2600" spc="-20" dirty="0"/>
              <a:t>WORK</a:t>
            </a:r>
            <a:endParaRPr sz="2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363230"/>
              </p:ext>
            </p:extLst>
          </p:nvPr>
        </p:nvGraphicFramePr>
        <p:xfrm>
          <a:off x="2224678" y="1042987"/>
          <a:ext cx="6637020" cy="3663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3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0230">
                <a:tc>
                  <a:txBody>
                    <a:bodyPr/>
                    <a:lstStyle/>
                    <a:p>
                      <a:pPr marL="85725" marR="298450" indent="4064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200" dirty="0">
                          <a:latin typeface="Arial MT"/>
                        </a:rPr>
                        <a:t>To design and implement a software-defined virtual CPU simulator for instruction execution </a:t>
                      </a:r>
                      <a:r>
                        <a:rPr lang="en-US" sz="1200">
                          <a:latin typeface="Arial MT"/>
                        </a:rPr>
                        <a:t>and  visualization</a:t>
                      </a:r>
                      <a:r>
                        <a:rPr lang="en-US" sz="1200" dirty="0">
                          <a:latin typeface="Arial MT"/>
                        </a:rPr>
                        <a:t>.</a:t>
                      </a:r>
                      <a:endParaRPr sz="12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marL="85725" marR="5715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200" dirty="0">
                          <a:latin typeface="Arial MT"/>
                          <a:cs typeface="Arial" panose="020B0604020202020204" pitchFamily="34" charset="0"/>
                        </a:rPr>
                        <a:t>SCASM(</a:t>
                      </a:r>
                      <a:r>
                        <a:rPr lang="en-US" sz="1200" dirty="0" err="1">
                          <a:latin typeface="Arial MT"/>
                          <a:cs typeface="Arial" panose="020B0604020202020204" pitchFamily="34" charset="0"/>
                        </a:rPr>
                        <a:t>ScriptCore</a:t>
                      </a:r>
                      <a:r>
                        <a:rPr lang="en-US" sz="1200" dirty="0">
                          <a:latin typeface="Arial MT"/>
                          <a:cs typeface="Arial" panose="020B0604020202020204" pitchFamily="34" charset="0"/>
                        </a:rPr>
                        <a:t> Assembly Language) programs containing CPU instructions.</a:t>
                      </a:r>
                      <a:endParaRPr sz="12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85725" marR="1079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100" dirty="0">
                          <a:latin typeface="Arial MT"/>
                          <a:cs typeface="Arial" panose="020B0604020202020204" pitchFamily="34" charset="0"/>
                        </a:rPr>
                        <a:t>Real-Time visualization of registers, memory, and instruction flow via CLI or web interface.</a:t>
                      </a: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marL="85725" marR="34480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200" dirty="0">
                          <a:latin typeface="Arial MT"/>
                        </a:rPr>
                        <a:t>Step-by-step </a:t>
                      </a:r>
                      <a:r>
                        <a:rPr lang="en-US" sz="1200" i="1" dirty="0">
                          <a:latin typeface="Arial MT"/>
                        </a:rPr>
                        <a:t>Fetch → Decode → Execute → Update</a:t>
                      </a:r>
                      <a:r>
                        <a:rPr lang="en-US" sz="1200" dirty="0">
                          <a:latin typeface="Arial MT"/>
                        </a:rPr>
                        <a:t> cycle simulating CPU operations.</a:t>
                      </a:r>
                      <a:endParaRPr sz="12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7305">
                <a:tc>
                  <a:txBody>
                    <a:bodyPr/>
                    <a:lstStyle/>
                    <a:p>
                      <a:pPr marL="85725" marR="1079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GB" sz="1100" dirty="0">
                          <a:latin typeface="Arial MT"/>
                          <a:cs typeface="Arial" panose="020B0604020202020204" pitchFamily="34" charset="0"/>
                        </a:rPr>
                        <a:t>Educational tool to learn CPU internals; extendable to multi-core and pipeline simulations</a:t>
                      </a:r>
                    </a:p>
                    <a:p>
                      <a:pPr marL="85725" marR="1079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5725" marR="10795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200" dirty="0">
                          <a:latin typeface="Arial MT"/>
                        </a:rPr>
                        <a:t>Add multi-core support, pipeline execution, and integration with hardware virtualization simulators (gem5/QEMU).</a:t>
                      </a:r>
                      <a:endParaRPr sz="1200" dirty="0">
                        <a:latin typeface="Arial MT"/>
                        <a:cs typeface="Arial" panose="020B0604020202020204" pitchFamily="34" charset="0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09778" y="3465205"/>
            <a:ext cx="6940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Scop</a:t>
            </a:r>
            <a:r>
              <a:rPr kumimoji="0" lang="en-IN" sz="1600" b="1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2025" y="4751019"/>
            <a:ext cx="139065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06</a:t>
            </a:r>
            <a:endParaRPr kumimoji="0" sz="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C3505AEB-997B-A9A3-C307-5D3357246187}"/>
              </a:ext>
            </a:extLst>
          </p:cNvPr>
          <p:cNvSpPr txBox="1"/>
          <p:nvPr/>
        </p:nvSpPr>
        <p:spPr>
          <a:xfrm>
            <a:off x="1" y="2952750"/>
            <a:ext cx="201126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Algorithm Used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71F38DB8-9A23-AAFE-7938-3F75C7C7B473}"/>
              </a:ext>
            </a:extLst>
          </p:cNvPr>
          <p:cNvSpPr txBox="1"/>
          <p:nvPr/>
        </p:nvSpPr>
        <p:spPr>
          <a:xfrm>
            <a:off x="914400" y="2310772"/>
            <a:ext cx="109686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 spc="75" dirty="0">
                <a:latin typeface="Arial"/>
                <a:cs typeface="Arial"/>
              </a:rPr>
              <a:t>Output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E7077E57-3A08-F37E-3DEE-A64A73AC3E3A}"/>
              </a:ext>
            </a:extLst>
          </p:cNvPr>
          <p:cNvSpPr txBox="1"/>
          <p:nvPr/>
        </p:nvSpPr>
        <p:spPr>
          <a:xfrm>
            <a:off x="1317212" y="1668794"/>
            <a:ext cx="6940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Input</a:t>
            </a:r>
            <a:endParaRPr kumimoji="0" sz="1600" b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C774652D-4E0B-BD21-1E27-34F049F72386}"/>
              </a:ext>
            </a:extLst>
          </p:cNvPr>
          <p:cNvSpPr txBox="1"/>
          <p:nvPr/>
        </p:nvSpPr>
        <p:spPr>
          <a:xfrm>
            <a:off x="282303" y="1156338"/>
            <a:ext cx="174728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Objective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619A77-A16A-20E4-2DE4-3EF1DA290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72EBC8-649B-4E83-5608-2869B983C49B}"/>
              </a:ext>
            </a:extLst>
          </p:cNvPr>
          <p:cNvCxnSpPr/>
          <p:nvPr/>
        </p:nvCxnSpPr>
        <p:spPr>
          <a:xfrm>
            <a:off x="2224678" y="3943350"/>
            <a:ext cx="663702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bject 5">
            <a:extLst>
              <a:ext uri="{FF2B5EF4-FFF2-40B4-BE49-F238E27FC236}">
                <a16:creationId xmlns:a16="http://schemas.microsoft.com/office/drawing/2014/main" id="{6D4D5877-8E8E-3B41-FF68-FCF1373435CB}"/>
              </a:ext>
            </a:extLst>
          </p:cNvPr>
          <p:cNvSpPr txBox="1"/>
          <p:nvPr/>
        </p:nvSpPr>
        <p:spPr>
          <a:xfrm>
            <a:off x="-11418" y="4046272"/>
            <a:ext cx="214501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spc="75" dirty="0">
                <a:latin typeface="Arial"/>
                <a:cs typeface="Arial"/>
              </a:rPr>
              <a:t>F</a:t>
            </a:r>
            <a:r>
              <a:rPr lang="en-IN" sz="1600" b="1" spc="75" dirty="0" err="1">
                <a:latin typeface="Arial"/>
                <a:cs typeface="Arial"/>
              </a:rPr>
              <a:t>uture</a:t>
            </a:r>
            <a:r>
              <a:rPr lang="en-IN" sz="1600" b="1" spc="75" dirty="0">
                <a:latin typeface="Arial"/>
                <a:cs typeface="Arial"/>
              </a:rPr>
              <a:t> Enhancement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87436"/>
            <a:ext cx="3215640" cy="420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dirty="0"/>
              <a:t>REFERENCE</a:t>
            </a:r>
            <a:r>
              <a:rPr sz="2600" spc="195" dirty="0"/>
              <a:t> </a:t>
            </a:r>
            <a:r>
              <a:rPr sz="2600" spc="-20" dirty="0"/>
              <a:t>WORK</a:t>
            </a:r>
            <a:endParaRPr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704314"/>
            <a:ext cx="7710180" cy="4260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200" b="1" dirty="0"/>
              <a:t>Automatic Generation of Simulators for Processors Enhanced for Security in Virtualization - </a:t>
            </a:r>
            <a:r>
              <a:rPr lang="en-IN" sz="1200" b="1" dirty="0"/>
              <a:t>SWAPNEEL C. MHATRE ANDPRIYACHANDRAN,(Senior Member, IEEE) - </a:t>
            </a:r>
            <a:r>
              <a:rPr lang="en-US" sz="1200" dirty="0"/>
              <a:t>Received 18 November 2024, accepted 9 January 2025, date of publication 14 January 2025, date of current version 22 January 2025.</a:t>
            </a:r>
          </a:p>
          <a:p>
            <a:endParaRPr lang="en-US" sz="1200" b="1" i="1" u="sng" dirty="0"/>
          </a:p>
          <a:p>
            <a:r>
              <a:rPr lang="en-US" sz="1200" b="1" i="1" u="sng" dirty="0"/>
              <a:t>Core Virtualization &amp; Security Works</a:t>
            </a:r>
          </a:p>
          <a:p>
            <a:r>
              <a:rPr lang="en-US" sz="1200" b="1" dirty="0" err="1"/>
              <a:t>HyperWall</a:t>
            </a:r>
            <a:r>
              <a:rPr lang="en-US" sz="1200" dirty="0"/>
              <a:t> - J. </a:t>
            </a:r>
            <a:r>
              <a:rPr lang="en-US" sz="1200" dirty="0" err="1"/>
              <a:t>Szefer</a:t>
            </a:r>
            <a:r>
              <a:rPr lang="en-US" sz="1200" dirty="0"/>
              <a:t> and R. B. Lee (2012): Architectural support for hypervisor-secure virtualization, providing security to VMs through Confidentiality and Integrity Protection (CIP) tables.</a:t>
            </a:r>
          </a:p>
          <a:p>
            <a:r>
              <a:rPr lang="en-US" sz="1200" b="1" dirty="0"/>
              <a:t>ASMI (Architectural Support for Memory Isolation)</a:t>
            </a:r>
            <a:r>
              <a:rPr lang="en-US" sz="1200" dirty="0"/>
              <a:t> - R. Jithin and P. Chandran (2016): Provides memory isolation and security to virtual machines through CPU, MMU, and ISA modifications.</a:t>
            </a:r>
          </a:p>
          <a:p>
            <a:r>
              <a:rPr lang="en-US" sz="1200" b="1" dirty="0"/>
              <a:t>Popek and Goldberg (1974)</a:t>
            </a:r>
            <a:r>
              <a:rPr lang="en-US" sz="1200" dirty="0"/>
              <a:t>: Seminal work defining formal requirements for virtualizable architectures - establishes that every sensitive instruction should be a privileged instruction.</a:t>
            </a:r>
          </a:p>
          <a:p>
            <a:r>
              <a:rPr lang="en-US" sz="1200" b="1" i="1" u="sng" dirty="0"/>
              <a:t>Simulator and Architecture Description Language Works</a:t>
            </a:r>
          </a:p>
          <a:p>
            <a:r>
              <a:rPr lang="en-US" sz="1200" b="1" dirty="0"/>
              <a:t>gem5</a:t>
            </a:r>
            <a:r>
              <a:rPr lang="en-US" sz="1200" dirty="0"/>
              <a:t> - Binkert et al. (2011): Widely-used computer architecture simulator. Extended versions include gem5v and RISC-V full system support.</a:t>
            </a:r>
          </a:p>
          <a:p>
            <a:r>
              <a:rPr lang="en-US" sz="1200" b="1" dirty="0"/>
              <a:t>UPFAST</a:t>
            </a:r>
            <a:r>
              <a:rPr lang="en-US" sz="1200" dirty="0"/>
              <a:t> - Onder and Gupta (1998): University of Pittsburgh Flexible Architecture Simulation Tool for automatic microarchitecture simulator generation.</a:t>
            </a:r>
          </a:p>
          <a:p>
            <a:r>
              <a:rPr lang="en-US" sz="1200" b="1" dirty="0"/>
              <a:t>August</a:t>
            </a:r>
            <a:r>
              <a:rPr lang="en-US" sz="1200" dirty="0"/>
              <a:t> - P. Chandran (2004): Framework for automatic generation of compiled cycle-level microarchitecture simulators.</a:t>
            </a:r>
          </a:p>
          <a:p>
            <a:r>
              <a:rPr lang="en-US" sz="1200" b="1" dirty="0"/>
              <a:t>CADL Compiler</a:t>
            </a:r>
            <a:r>
              <a:rPr lang="en-US" sz="1200" dirty="0"/>
              <a:t> - Barnes et al. (2009): XML-based ADL framework for automatic generation of multithreaded computer architecture simulators.</a:t>
            </a:r>
          </a:p>
          <a:p>
            <a:r>
              <a:rPr lang="en-US" sz="1200" b="1" i="1" u="sng" dirty="0"/>
              <a:t>RISC-V Architecture</a:t>
            </a:r>
          </a:p>
          <a:p>
            <a:r>
              <a:rPr lang="en-US" sz="1200" b="1" dirty="0"/>
              <a:t>RISC-V ISA Specifications</a:t>
            </a:r>
            <a:r>
              <a:rPr lang="en-US" sz="1200" dirty="0"/>
              <a:t> - Waterman, </a:t>
            </a:r>
            <a:r>
              <a:rPr lang="en-US" sz="1200" dirty="0" err="1"/>
              <a:t>Asanovic</a:t>
            </a:r>
            <a:r>
              <a:rPr lang="en-US" sz="1200" dirty="0"/>
              <a:t>, Patterson: Foundational documents defining the RISC-V instruction set architecture and its privileged extensions.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0175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latin typeface="Arial"/>
                <a:cs typeface="Arial"/>
              </a:rPr>
              <a:t>07</a:t>
            </a:r>
            <a:endParaRPr sz="75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F415E-2524-9D2F-5E11-A2491BD3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</TotalTime>
  <Words>798</Words>
  <Application>Microsoft Office PowerPoint</Application>
  <PresentationFormat>On-screen Show (16:9)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Calibri</vt:lpstr>
      <vt:lpstr>Office Theme</vt:lpstr>
      <vt:lpstr>ScriptCore – A Software-Defined Virtual CPU and Instruction Execution Simulator</vt:lpstr>
      <vt:lpstr>ABSTRACT</vt:lpstr>
      <vt:lpstr>PROBLEM STATEMENT</vt:lpstr>
      <vt:lpstr>RELATED WORK</vt:lpstr>
      <vt:lpstr>PowerPoint Presentation</vt:lpstr>
      <vt:lpstr>PROPOSED WORK</vt:lpstr>
      <vt:lpstr>REFERENCE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zeroth review</dc:title>
  <cp:lastModifiedBy>BN Raiyan</cp:lastModifiedBy>
  <cp:revision>5</cp:revision>
  <dcterms:created xsi:type="dcterms:W3CDTF">2025-11-05T07:05:17Z</dcterms:created>
  <dcterms:modified xsi:type="dcterms:W3CDTF">2025-11-11T10:06:26Z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2025-11-05T00:00:00Z</vt:filetime>
  </property>
</Properties>
</file>